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数据链软件暑期学校 · M6 综合成果展示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Calibri"/>
              </a:rPr>
              <a:t>OpenSky 状态 → 41 字节教学帧 → 航迹态势 → 语义统一 → 质量告警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926080"/>
            <a:ext cx="1143000" cy="64008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解析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30632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ADCFC"/>
                </a:solidFill>
                <a:latin typeface="Calibri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2926080"/>
            <a:ext cx="1143000" cy="64008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封装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30632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ADCFC"/>
                </a:solidFill>
                <a:latin typeface="Calibr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39" y="2926080"/>
            <a:ext cx="1143000" cy="64008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传输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30632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ADCFC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79" y="2926080"/>
            <a:ext cx="1143000" cy="64008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解码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79" y="30632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ADCFC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19" y="2926080"/>
            <a:ext cx="1143000" cy="64008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存储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19" y="30632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ADCFC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59" y="2926080"/>
            <a:ext cx="1143000" cy="64008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航迹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59" y="30632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ADCFC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199" y="2926080"/>
            <a:ext cx="1143000" cy="64008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映射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44199" y="30632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ADCFC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064239" y="2926080"/>
            <a:ext cx="1143000" cy="64008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114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ADCFC"/>
                </a:solidFill>
                <a:latin typeface="Calibri"/>
              </a:rPr>
              <a:t>系统边界：离线数据处理 + 教学消息收发；TeachingLink 为学校自定义教学协议，不对应真实装备协议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1295C"/>
                </a:solidFill>
                <a:latin typeface="Cambria"/>
              </a:rPr>
              <a:t>发送方解析与 TeachingLink 消息封装（M2）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600">
                <a:solidFill>
                  <a:srgbClr val="065A82"/>
                </a:solidFill>
                <a:latin typeface="Calibri"/>
              </a:rPr>
              <a:t>parse_state_vector  </a:t>
            </a:r>
            <a:r>
              <a:rPr sz="1600">
                <a:solidFill>
                  <a:srgbClr val="1A212B"/>
                </a:solidFill>
                <a:latin typeface="Calibri"/>
              </a:rPr>
              <a:t>按字段字典固定索引取字段；时间（time_position→last_contact）、高度（baro→geo）来源回退；量程检查。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065A82"/>
                </a:solidFill>
                <a:latin typeface="Calibri"/>
              </a:rPr>
              <a:t>encode_position_message  </a:t>
            </a:r>
            <a:r>
              <a:rPr sz="1600">
                <a:solidFill>
                  <a:srgbClr val="1A212B"/>
                </a:solidFill>
                <a:latin typeface="Calibri"/>
              </a:rPr>
              <a:t>统一量化 Q(y)=floor(y+0.5)；大端字节序封装为固定 41 字节帧；status_flags / validity_flags 组装。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065A82"/>
                </a:solidFill>
                <a:latin typeface="Calibri"/>
              </a:rPr>
              <a:t>关键点  </a:t>
            </a:r>
            <a:r>
              <a:rPr sz="1600">
                <a:solidFill>
                  <a:srgbClr val="1A212B"/>
                </a:solidFill>
                <a:latin typeface="Calibri"/>
              </a:rPr>
              <a:t>22 位经纬度（高 2 位保留 0）；真实零值与缺失值靠有效位区分；callsign 不足补 0、超长报错。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065A82"/>
                </a:solidFill>
                <a:latin typeface="Calibri"/>
              </a:rPr>
              <a:t>输入 → 输出  </a:t>
            </a:r>
            <a:r>
              <a:rPr sz="1600">
                <a:solidFill>
                  <a:srgbClr val="1A212B"/>
                </a:solidFill>
                <a:latin typeface="Calibri"/>
              </a:rPr>
              <a:t>raw_states.json（5 条）→ encoded_messages.bin（3 帧；时间缺失、航向越界各 1 条被拒绝）。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1295C"/>
                </a:solidFill>
                <a:latin typeface="Cambria"/>
              </a:rPr>
              <a:t>接收方解封、校验与 SQLite（M2/M3）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600">
                <a:solidFill>
                  <a:srgbClr val="065A82"/>
                </a:solidFill>
                <a:latin typeface="Calibri"/>
              </a:rPr>
              <a:t>decode_position_message  </a:t>
            </a:r>
            <a:r>
              <a:rPr sz="1600">
                <a:solidFill>
                  <a:srgbClr val="1A212B"/>
                </a:solidFill>
                <a:latin typeface="Calibri"/>
              </a:rPr>
              <a:t>依次检查长度 / magic / version / message_type / checksum / 保留位 / 占位一致性 / 必需字段。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065A82"/>
                </a:solidFill>
                <a:latin typeface="Calibri"/>
              </a:rPr>
              <a:t>错误帧测试  </a:t>
            </a:r>
            <a:r>
              <a:rPr sz="1600">
                <a:solidFill>
                  <a:srgbClr val="1A212B"/>
                </a:solidFill>
                <a:latin typeface="Calibri"/>
              </a:rPr>
              <a:t>构造长度、magic、校验和、保留位、标志占位不一致 5 类错误帧，非法帧记入日志且不崩溃。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065A82"/>
                </a:solidFill>
                <a:latin typeface="Calibri"/>
              </a:rPr>
              <a:t>save_records_to_sqlite  </a:t>
            </a:r>
            <a:r>
              <a:rPr sz="1600">
                <a:solidFill>
                  <a:srgbClr val="1A212B"/>
                </a:solidFill>
                <a:latin typeface="Calibri"/>
              </a:rPr>
              <a:t>按 optional_db_schema.sql 写入 state_record 表，None 保存为 NULL。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065A82"/>
                </a:solidFill>
                <a:latin typeface="Calibri"/>
              </a:rPr>
              <a:t>输出  </a:t>
            </a:r>
            <a:r>
              <a:rPr sz="1600">
                <a:solidFill>
                  <a:srgbClr val="1A212B"/>
                </a:solidFill>
                <a:latin typeface="Calibri"/>
              </a:rPr>
              <a:t>decoded_partner_states.csv、validation_log.csv、roundtrip_report.csv、states.db。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1295C"/>
                </a:solidFill>
                <a:latin typeface="Cambria"/>
              </a:rPr>
              <a:t>航迹与当前态势（M3）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600">
                <a:solidFill>
                  <a:srgbClr val="065A82"/>
                </a:solidFill>
                <a:latin typeface="Calibri"/>
              </a:rPr>
              <a:t>decode_message_stream  </a:t>
            </a:r>
            <a:r>
              <a:rPr sz="1600">
                <a:solidFill>
                  <a:srgbClr val="1A212B"/>
                </a:solidFill>
                <a:latin typeface="Calibri"/>
              </a:rPr>
              <a:t>9 帧多时刻消息按 41 字节批量解码，记录并忽略不完整尾帧。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065A82"/>
                </a:solidFill>
                <a:latin typeface="Calibri"/>
              </a:rPr>
              <a:t>build_tracks  </a:t>
            </a:r>
            <a:r>
              <a:rPr sz="1600">
                <a:solidFill>
                  <a:srgbClr val="1A212B"/>
                </a:solidFill>
                <a:latin typeface="Calibri"/>
              </a:rPr>
              <a:t>仅用可接受记录，按 target_id 分组、timestamp 升序，生成从 1 开始的 track_sequence_no。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065A82"/>
                </a:solidFill>
                <a:latin typeface="Calibri"/>
              </a:rPr>
              <a:t>build_current_situation  </a:t>
            </a:r>
            <a:r>
              <a:rPr sz="1600">
                <a:solidFill>
                  <a:srgbClr val="1A212B"/>
                </a:solidFill>
                <a:latin typeface="Calibri"/>
              </a:rPr>
              <a:t>每个目标保留时间最新记录，统计 track_length；可选字段缺失仍可入选。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065A82"/>
                </a:solidFill>
                <a:latin typeface="Calibri"/>
              </a:rPr>
              <a:t>真实数据验证  </a:t>
            </a:r>
            <a:r>
              <a:rPr sz="1600">
                <a:solidFill>
                  <a:srgbClr val="1A212B"/>
                </a:solidFill>
                <a:latin typeface="Calibri"/>
              </a:rPr>
              <a:t>OpenSky 快照 71 条全部编解码成功、形成 24 个目标；输出 9 个验证文件。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mbria"/>
              </a:rPr>
              <a:t>语义映射 · 一致性 · 改进方向（M4/M5）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600">
                <a:solidFill>
                  <a:srgbClr val="FFFFFF"/>
                </a:solidFill>
                <a:latin typeface="Calibri"/>
              </a:rPr>
              <a:t>map_to_unified  </a:t>
            </a:r>
            <a:r>
              <a:rPr sz="1600">
                <a:solidFill>
                  <a:srgbClr val="CADCFC"/>
                </a:solidFill>
                <a:latin typeface="Calibri"/>
              </a:rPr>
              <a:t>两来源映射到统一模型；人工核验修正候选 3 类错误（经纬度对调、高度偏置、bit2 语义）。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FFFFFF"/>
                </a:solidFill>
                <a:latin typeface="Calibri"/>
              </a:rPr>
              <a:t>一致性检查  </a:t>
            </a:r>
            <a:r>
              <a:rPr sz="1600">
                <a:solidFill>
                  <a:srgbClr val="CADCFC"/>
                </a:solidFill>
                <a:latin typeface="Calibri"/>
              </a:rPr>
              <a:t>4 类固定规则：位置缺失(HIGH)、延迟、联合键重复、航向越界(MEDIUM)。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FFFFFF"/>
                </a:solidFill>
                <a:latin typeface="Calibri"/>
              </a:rPr>
              <a:t>结果  </a:t>
            </a:r>
            <a:r>
              <a:rPr sz="1600">
                <a:solidFill>
                  <a:srgbClr val="CADCFC"/>
                </a:solidFill>
                <a:latin typeface="Calibri"/>
              </a:rPr>
              <a:t>30 条正式映射、6 条统一消息、4 条告警（1 HIGH / 3 MEDIUM）、质量态势 6 行。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FFFFFF"/>
                </a:solidFill>
                <a:latin typeface="Calibri"/>
              </a:rPr>
              <a:t>改进方向  </a:t>
            </a:r>
            <a:r>
              <a:rPr sz="1600">
                <a:solidFill>
                  <a:srgbClr val="CADCFC"/>
                </a:solidFill>
                <a:latin typeface="Calibri"/>
              </a:rPr>
              <a:t>失步重同步、真实网络传输、来源真实性 / 安全完整性校验。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